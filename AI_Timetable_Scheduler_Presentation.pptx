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24" y="-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5C1A9-1F40-4E08-A954-3297947F1F0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B362C5-F4A0-4A66-A34F-023ABA520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076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College Timetable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Resource Scheduler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CSP-based conflict-free timetable generator with role-based portals, room allocation and a Gemini-powered chat assistant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98184"/>
            <a:ext cx="4937760" cy="1836656"/>
          </a:xfrm>
          <a:prstGeom prst="roundRect">
            <a:avLst>
              <a:gd name="adj" fmla="val 6857"/>
            </a:avLst>
          </a:prstGeom>
          <a:solidFill>
            <a:srgbClr val="3B1A7A"/>
          </a:solidFill>
          <a:ln w="19050">
            <a:solidFill>
              <a:srgbClr val="A78BFA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300" b="1" dirty="0" smtClean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ARTIFICIAL INTELLIGENCE PROJECT </a:t>
            </a:r>
          </a:p>
          <a:p>
            <a:pPr marL="0" indent="0" algn="l">
              <a:buNone/>
            </a:pPr>
            <a:r>
              <a:rPr lang="en-US" sz="1300" b="1" dirty="0" smtClean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: </a:t>
            </a:r>
            <a:r>
              <a:rPr lang="en-US" sz="1300" b="1" dirty="0" smtClean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Mrs</a:t>
            </a:r>
            <a:r>
              <a:rPr lang="en-US" sz="1300" b="1" dirty="0" smtClean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b="1" dirty="0" err="1" smtClean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300" b="1" dirty="0" err="1" smtClean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eepa</a:t>
            </a:r>
            <a:r>
              <a:rPr lang="en-US" sz="1300" b="1" dirty="0" smtClean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Karthisai</a:t>
            </a:r>
            <a:endParaRPr lang="en-US" sz="1300" b="1" dirty="0" smtClean="0">
              <a:solidFill>
                <a:srgbClr val="FBBF2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 b="1" dirty="0" smtClean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 smtClean="0"/>
          </a:p>
          <a:p>
            <a:pPr marL="0" indent="0" algn="l">
              <a:buNone/>
            </a:pP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 SHREE G  - 240701129</a:t>
            </a:r>
          </a:p>
          <a:p>
            <a:pPr marL="0" indent="0" algn="l">
              <a:buNone/>
            </a:pP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SHURIYA J -240701200</a:t>
            </a:r>
          </a:p>
          <a:p>
            <a:pPr marL="0" indent="0" algn="l">
              <a:buNone/>
            </a:pP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</a:p>
          <a:p>
            <a:pPr marL="0" indent="0" algn="l">
              <a:buNone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Engineering College</a:t>
            </a:r>
          </a:p>
          <a:p>
            <a:pPr marL="0" indent="0" algn="l">
              <a:buNone/>
            </a:pP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2024 -2028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914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914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914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914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914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-120000">
            <a:off x="6035040" y="12344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537960" y="12344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20000">
            <a:off x="7040880" y="12344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120000">
            <a:off x="7543800" y="12344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046720" y="12344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035040" y="16916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20000">
            <a:off x="6537960" y="16916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rot="-120000">
            <a:off x="7040880" y="16916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543800" y="16916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rot="120000">
            <a:off x="8046720" y="16916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20000">
            <a:off x="6035040" y="21488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rot="-120000">
            <a:off x="6537960" y="21488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040880" y="21488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rot="120000">
            <a:off x="7543800" y="21488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120000">
            <a:off x="8046720" y="21488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rot="-120000">
            <a:off x="6035040" y="26060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537960" y="26060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20000">
            <a:off x="7040880" y="26060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rot="-120000">
            <a:off x="7543800" y="26060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26060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035040" y="30632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20000">
            <a:off x="6537960" y="30632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rot="-120000">
            <a:off x="7040880" y="30632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30632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 rot="120000">
            <a:off x="8046720" y="306324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3B1A7A"/>
          </a:solidFill>
          <a:ln w="12700">
            <a:solidFill>
              <a:srgbClr val="A78BFA"/>
            </a:solidFill>
            <a:prstDash val="dash"/>
          </a:ln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291840"/>
            <a:ext cx="457200" cy="73152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6949440" y="4069080"/>
            <a:ext cx="731520" cy="73152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51960"/>
            <a:ext cx="365760" cy="365760"/>
          </a:xfrm>
          <a:prstGeom prst="rect">
            <a:avLst/>
          </a:prstGeom>
        </p:spPr>
      </p:pic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502920"/>
            <a:ext cx="457200" cy="457200"/>
          </a:xfrm>
          <a:prstGeom prst="rect">
            <a:avLst/>
          </a:prstGeom>
        </p:spPr>
      </p:pic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931920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77240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conflicts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timetabling fails, and what we built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84048"/>
            <a:ext cx="128016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1887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college timetable by hand means juggling teachers, rooms, labs and batches so that nothing clashes. It is slow, error-prone and hard to change.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timetabling as a Constraint Satisfaction Problem and solve it with backtracking search, MRV ordering, forward checking and domain pruning. The engine guarantees no teacher, room or batch double-booking, matches labs and classrooms, respects room capacity and leaves every batch a daily break.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engine we built Student, Faculty and Admin portals, best-fit room ranking, an event-request approval workflow and a chat assistant where Gemini only translates language while MongoDB supplies every fact.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CSP, backtracking, MRV, forward checking, FastAPI, MongoDB, React, Gemini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234440"/>
            <a:ext cx="1463040" cy="150876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teachers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subjects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1234440"/>
            <a:ext cx="1463040" cy="150876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rooms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+ labs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2926080"/>
            <a:ext cx="1463040" cy="150876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3794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week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theory, 48 lab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2926080"/>
            <a:ext cx="1463040" cy="150876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3794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/ room / batch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2519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for the CSP engine and the grounded chat assistant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84048"/>
            <a:ext cx="1280160" cy="32004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29840"/>
        </p:xfrm>
        <a:graphic>
          <a:graphicData uri="http://schemas.openxmlformats.org/drawingml/2006/table">
            <a:tbl>
              <a:tblPr/>
              <a:tblGrid>
                <a:gridCol w="365760"/>
                <a:gridCol w="3566160"/>
                <a:gridCol w="2286000"/>
                <a:gridCol w="20116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our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Russell &amp; Norvig, Artificial Intelligence: A Modern Approach (CSP chapter)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Formalises CSPs, backtracking, MRV and forward checking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basis of our solver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Even, Itai &amp; Shamir (1976), On the Complexity of Timetable and Multicommodity Flow Problems, SIAM J. Computing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timetabling is NP-complete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need heuristics, not brute force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Mackworth (1977), Consistency in Networks of Relations, Artificial Intelligence 8(1)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Introduces constraint propagation and arc consistency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pruning before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Haralick &amp; Elliott (1980), Increasing Tree Search Efficiency for Constraint Satisfaction Problems, Artificial Intelligence 14(3)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checking and fail-first variable ordering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MRV and early wipe-out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(2008), A Survey of Metaheuristic-Based Techniques for University Timetabling Problems, OR Spectrum 30(1)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GA, simulated annealing and tabu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Alternatives; CSP keeps hard constraints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et al. (2020), Retrieval-Augmented Generation for Knowledge-Intensive NLP Tasks, NeurIPS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Grounds LLM answers in retrieved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Chat: database gives facts, Gemini phrases them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FastAPI services, MongoDB and intelligence modules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84048"/>
            <a:ext cx="128016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548640" cy="54864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716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11480" y="18013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02920" y="2240280"/>
            <a:ext cx="548640" cy="548640"/>
          </a:xfrm>
          <a:prstGeom prst="ellipse">
            <a:avLst/>
          </a:prstGeom>
          <a:solidFill>
            <a:srgbClr val="7C3AED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3774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11480" y="28072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02920" y="3246120"/>
            <a:ext cx="548640" cy="548640"/>
          </a:xfrm>
          <a:prstGeom prst="ellipse">
            <a:avLst/>
          </a:prstGeom>
          <a:solidFill>
            <a:srgbClr val="5B21B6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8328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11480" y="3813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2148840"/>
            <a:ext cx="548640" cy="32004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874520" y="1143000"/>
            <a:ext cx="1783080" cy="3017520"/>
          </a:xfrm>
          <a:prstGeom prst="roundRect">
            <a:avLst>
              <a:gd name="adj" fmla="val 6154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MUI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(protected routes)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/ ThemeContext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TimetableTable grid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ChatWidget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3108960" y="960120"/>
            <a:ext cx="457200" cy="45720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3260" y="1074420"/>
            <a:ext cx="228600" cy="22860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2148840"/>
            <a:ext cx="548640" cy="32004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3657600" y="1920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JWT</a:t>
            </a:r>
            <a:endParaRPr lang="en-US" sz="900" dirty="0"/>
          </a:p>
        </p:txBody>
      </p:sp>
      <p:sp>
        <p:nvSpPr>
          <p:cNvPr id="20" name="Text 11"/>
          <p:cNvSpPr txBox="1"/>
          <p:nvPr/>
        </p:nvSpPr>
        <p:spPr>
          <a:xfrm>
            <a:off x="4297680" y="1143000"/>
            <a:ext cx="1783080" cy="3017520"/>
          </a:xfrm>
          <a:prstGeom prst="roundRect">
            <a:avLst>
              <a:gd name="adj" fmla="val 6154"/>
            </a:avLst>
          </a:prstGeom>
          <a:solidFill>
            <a:srgbClr val="EDE9FE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(JWT, bcrypt)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1300" dirty="0"/>
          </a:p>
        </p:txBody>
      </p:sp>
      <p:sp>
        <p:nvSpPr>
          <p:cNvPr id="21" name="Shape 12"/>
          <p:cNvSpPr/>
          <p:nvPr/>
        </p:nvSpPr>
        <p:spPr>
          <a:xfrm>
            <a:off x="5532120" y="960120"/>
            <a:ext cx="457200" cy="45720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6420" y="1074420"/>
            <a:ext cx="228600" cy="228600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1344168"/>
            <a:ext cx="457200" cy="27432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629400" y="11430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dash"/>
          </a:ln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(Motor)</a:t>
            </a:r>
            <a:endParaRPr lang="en-US" sz="12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rooms, users, events</a:t>
            </a:r>
            <a:endParaRPr lang="en-US" sz="1200" dirty="0"/>
          </a:p>
        </p:txBody>
      </p:sp>
      <p:sp>
        <p:nvSpPr>
          <p:cNvPr id="25" name="Shape 14"/>
          <p:cNvSpPr/>
          <p:nvPr/>
        </p:nvSpPr>
        <p:spPr>
          <a:xfrm>
            <a:off x="8366760" y="1033272"/>
            <a:ext cx="329184" cy="32918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9056" y="1115568"/>
            <a:ext cx="164592" cy="164592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2121408"/>
            <a:ext cx="457200" cy="27432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6629400" y="192024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Engine</a:t>
            </a:r>
            <a:endParaRPr lang="en-US" sz="12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+ MRV + forward checking</a:t>
            </a:r>
            <a:endParaRPr lang="en-US" sz="1200" dirty="0"/>
          </a:p>
        </p:txBody>
      </p:sp>
      <p:sp>
        <p:nvSpPr>
          <p:cNvPr id="29" name="Shape 16"/>
          <p:cNvSpPr/>
          <p:nvPr/>
        </p:nvSpPr>
        <p:spPr>
          <a:xfrm>
            <a:off x="8366760" y="1810512"/>
            <a:ext cx="329184" cy="329184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9056" y="1892808"/>
            <a:ext cx="164592" cy="164592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2898648"/>
            <a:ext cx="457200" cy="27432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6629400" y="269748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dash"/>
          </a:ln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Allocation</a:t>
            </a:r>
            <a:endParaRPr lang="en-US" sz="12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ranking</a:t>
            </a:r>
            <a:endParaRPr lang="en-US" sz="1200" dirty="0"/>
          </a:p>
        </p:txBody>
      </p:sp>
      <p:sp>
        <p:nvSpPr>
          <p:cNvPr id="33" name="Shape 18"/>
          <p:cNvSpPr/>
          <p:nvPr/>
        </p:nvSpPr>
        <p:spPr>
          <a:xfrm>
            <a:off x="8366760" y="2587752"/>
            <a:ext cx="329184" cy="329184"/>
          </a:xfrm>
          <a:prstGeom prst="ellipse">
            <a:avLst/>
          </a:prstGeom>
          <a:solidFill>
            <a:srgbClr val="B4530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9056" y="2670048"/>
            <a:ext cx="164592" cy="164592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675888"/>
            <a:ext cx="457200" cy="27432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6629400" y="347472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E185D"/>
            </a:solidFill>
            <a:prstDash val="dash"/>
          </a:ln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phrasing only</a:t>
            </a:r>
            <a:endParaRPr lang="en-US" sz="1200" dirty="0"/>
          </a:p>
        </p:txBody>
      </p:sp>
      <p:sp>
        <p:nvSpPr>
          <p:cNvPr id="37" name="Shape 20"/>
          <p:cNvSpPr/>
          <p:nvPr/>
        </p:nvSpPr>
        <p:spPr>
          <a:xfrm>
            <a:off x="8366760" y="3364992"/>
            <a:ext cx="329184" cy="329184"/>
          </a:xfrm>
          <a:prstGeom prst="ellipse">
            <a:avLst/>
          </a:prstGeom>
          <a:solidFill>
            <a:srgbClr val="BE185D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49056" y="3447288"/>
            <a:ext cx="164592" cy="164592"/>
          </a:xfrm>
          <a:prstGeom prst="rect">
            <a:avLst/>
          </a:prstGeom>
        </p:spPr>
      </p:pic>
      <p:sp>
        <p:nvSpPr>
          <p:cNvPr id="39" name="Text 21"/>
          <p:cNvSpPr txBox="1"/>
          <p:nvPr/>
        </p:nvSpPr>
        <p:spPr>
          <a:xfrm>
            <a:off x="1874520" y="4343400"/>
            <a:ext cx="6812280" cy="502920"/>
          </a:xfrm>
          <a:prstGeom prst="roundRect">
            <a:avLst>
              <a:gd name="adj" fmla="val 21818"/>
            </a:avLst>
          </a:prstGeom>
          <a:solidFill>
            <a:srgbClr val="FEF3C7"/>
          </a:solidFill>
          <a:ln w="19050">
            <a:solidFill>
              <a:srgbClr val="FBBF24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action -&gt; JWT check -&gt; route -&gt; service / CSP -&gt; MongoDB -&gt; JSON -&gt; UI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CSP Engine: How the Timetable is Solved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domains and constraints, then search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84048"/>
            <a:ext cx="128016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25296"/>
            <a:ext cx="402336" cy="402336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188720"/>
            <a:ext cx="4206240" cy="512064"/>
          </a:xfrm>
          <a:prstGeom prst="roundRect">
            <a:avLst>
              <a:gd name="adj" fmla="val 21429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variables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(batch, session); lab = one 2-period block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28800"/>
            <a:ext cx="402336" cy="402336"/>
          </a:xfrm>
          <a:prstGeom prst="ellipse">
            <a:avLst/>
          </a:prstGeom>
          <a:solidFill>
            <a:srgbClr val="A78BFA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792224"/>
            <a:ext cx="4206240" cy="512064"/>
          </a:xfrm>
          <a:prstGeom prst="roundRect">
            <a:avLst>
              <a:gd name="adj" fmla="val 21429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domains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rooms failing capacity, lab/theory type, late lab starts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32304"/>
            <a:ext cx="402336" cy="402336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395728"/>
            <a:ext cx="4206240" cy="512064"/>
          </a:xfrm>
          <a:prstGeom prst="roundRect">
            <a:avLst>
              <a:gd name="adj" fmla="val 21429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with MRV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with fewest legal values goes first (labs early)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A78BFA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999232"/>
            <a:ext cx="4206240" cy="512064"/>
          </a:xfrm>
          <a:prstGeom prst="roundRect">
            <a:avLst>
              <a:gd name="adj" fmla="val 21429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 + forward check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(day, period, room); undo on dead end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39312"/>
            <a:ext cx="402336" cy="402336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3602736"/>
            <a:ext cx="4206240" cy="512064"/>
          </a:xfrm>
          <a:prstGeom prst="roundRect">
            <a:avLst>
              <a:gd name="adj" fmla="val 21429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scan: 0 teacher / room / batch clashes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242816"/>
            <a:ext cx="402336" cy="402336"/>
          </a:xfrm>
          <a:prstGeom prst="ellipse">
            <a:avLst/>
          </a:prstGeom>
          <a:solidFill>
            <a:srgbClr val="A78BFA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4206240"/>
            <a:ext cx="4206240" cy="512064"/>
          </a:xfrm>
          <a:prstGeom prst="roundRect">
            <a:avLst>
              <a:gd name="adj" fmla="val 21429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times, duration and "Why this slot?" text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 flipH="1">
            <a:off x="6080760" y="1371600"/>
            <a:ext cx="1005840" cy="640080"/>
          </a:xfrm>
          <a:prstGeom prst="line">
            <a:avLst/>
          </a:prstGeom>
          <a:noFill/>
          <a:ln w="22225">
            <a:solidFill>
              <a:srgbClr val="6D28D9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7086600" y="1371600"/>
            <a:ext cx="0" cy="640080"/>
          </a:xfrm>
          <a:prstGeom prst="line">
            <a:avLst/>
          </a:prstGeom>
          <a:noFill/>
          <a:ln w="22225">
            <a:solidFill>
              <a:srgbClr val="6D28D9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7086600" y="1371600"/>
            <a:ext cx="1005840" cy="640080"/>
          </a:xfrm>
          <a:prstGeom prst="line">
            <a:avLst/>
          </a:prstGeom>
          <a:noFill/>
          <a:ln w="22225">
            <a:solidFill>
              <a:srgbClr val="A78BFA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 flipH="1">
            <a:off x="6583680" y="2011680"/>
            <a:ext cx="502920" cy="685800"/>
          </a:xfrm>
          <a:prstGeom prst="line">
            <a:avLst/>
          </a:prstGeom>
          <a:noFill/>
          <a:ln w="22225">
            <a:solidFill>
              <a:srgbClr val="6D28D9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7086600" y="2011680"/>
            <a:ext cx="502920" cy="685800"/>
          </a:xfrm>
          <a:prstGeom prst="line">
            <a:avLst/>
          </a:prstGeom>
          <a:noFill/>
          <a:ln w="22225">
            <a:solidFill>
              <a:srgbClr val="6D28D9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544068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tree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1170432"/>
            <a:ext cx="402336" cy="402336"/>
          </a:xfrm>
          <a:prstGeom prst="ellipse">
            <a:avLst/>
          </a:prstGeom>
          <a:solidFill>
            <a:srgbClr val="2E1065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879592" y="1810512"/>
            <a:ext cx="402336" cy="402336"/>
          </a:xfrm>
          <a:prstGeom prst="ellipse">
            <a:avLst/>
          </a:prstGeom>
          <a:solidFill>
            <a:srgbClr val="DC2626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1810512"/>
            <a:ext cx="402336" cy="402336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7891272" y="1810512"/>
            <a:ext cx="402336" cy="402336"/>
          </a:xfrm>
          <a:prstGeom prst="ellipse">
            <a:avLst/>
          </a:prstGeom>
          <a:solidFill>
            <a:srgbClr val="D1D5DB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382512" y="2496312"/>
            <a:ext cx="402336" cy="402336"/>
          </a:xfrm>
          <a:prstGeom prst="ellipse">
            <a:avLst/>
          </a:prstGeom>
          <a:solidFill>
            <a:srgbClr val="DC2626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88352" y="2496312"/>
            <a:ext cx="402336" cy="402336"/>
          </a:xfrm>
          <a:prstGeom prst="ellipse">
            <a:avLst/>
          </a:prstGeom>
          <a:solidFill>
            <a:srgbClr val="059669"/>
          </a:solidFill>
          <a:ln w="15875">
            <a:solidFill>
              <a:srgbClr val="2E10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21208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end: undo, try next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360920" y="2999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placed: solved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40680" y="338328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EF3C7"/>
          </a:solidFill>
          <a:ln w="19050">
            <a:solidFill>
              <a:srgbClr val="FBBF24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/ room / batch double-booking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in lab rooms, theory in classrooms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capacity &gt;= batch size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batch keeps at least 1 free period per day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Soft: preferred teacher, block, morning slots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 portals on top of four core services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84048"/>
            <a:ext cx="128016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lock faculty + section preferences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weekly / today timetable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Room Finder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" y="1097280"/>
            <a:ext cx="594360" cy="59436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24587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2070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3246120" y="12801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teaching schedule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workshop room request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 status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383280" y="1097280"/>
            <a:ext cx="594360" cy="594360"/>
          </a:xfrm>
          <a:prstGeom prst="ellipse">
            <a:avLst/>
          </a:prstGeom>
          <a:solidFill>
            <a:srgbClr val="7C3AED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870" y="124587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69080" y="12070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6035040" y="12801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5F3FF"/>
          </a:solidFill>
          <a:ln w="19050">
            <a:solidFill>
              <a:srgbClr val="5B21B6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CSP, generate alternatives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events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analytics, conflicts, calendar, preference resets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72200" y="1097280"/>
            <a:ext cx="594360" cy="594360"/>
          </a:xfrm>
          <a:prstGeom prst="ellipse">
            <a:avLst/>
          </a:prstGeom>
          <a:solidFill>
            <a:srgbClr val="5B21B6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0790" y="1245870"/>
            <a:ext cx="297180" cy="2971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58000" y="12070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361188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engine.py: variables, pruning, MRV, verification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66928" y="3456432"/>
            <a:ext cx="457200" cy="45720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" y="3570732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78992" y="3566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Engine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2578608" y="361188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ranking by capacity, type, e-board, block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2688336" y="3456432"/>
            <a:ext cx="457200" cy="45720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2636" y="3570732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200400" y="3566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Allocation</a:t>
            </a:r>
            <a:endParaRPr lang="en-US" sz="1250" dirty="0"/>
          </a:p>
        </p:txBody>
      </p:sp>
      <p:sp>
        <p:nvSpPr>
          <p:cNvPr id="25" name="Text 17"/>
          <p:cNvSpPr txBox="1"/>
          <p:nvPr/>
        </p:nvSpPr>
        <p:spPr>
          <a:xfrm>
            <a:off x="4700016" y="361188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bcrypt, one-time preference lock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809744" y="3456432"/>
            <a:ext cx="457200" cy="45720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4044" y="3570732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321808" y="3566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Preferences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6821424" y="361188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intent -&gt; MongoDB query -&gt; Gemini answer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931152" y="3456432"/>
            <a:ext cx="457200" cy="45720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2E1065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5452" y="3570732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443216" y="3566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Pipeline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1: Login and Admin Control Center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84048"/>
            <a:ext cx="1280160" cy="320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" y="1179576"/>
            <a:ext cx="3950208" cy="192446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1" descr="/mnt/user-data/uploads/1790600632038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3840480" cy="181473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00016" y="1179576"/>
            <a:ext cx="3950208" cy="1906889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2" descr="/mnt/user-data/uploads/1790600671898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234440"/>
            <a:ext cx="3840480" cy="1797161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324612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FBBF24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login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bcrypt password hashing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demo accounts for Student, Faculty, Admin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and menus change by role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754880" y="324612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FBBF24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CSP Engine / Generate Alternative Timetable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sessions (69 theory, 48 lab), 94 rooms, 24 teachers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teacher, room and batch clashes; 100% preference satisfaction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2: Timetable and Event Request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84048"/>
            <a:ext cx="1280160" cy="320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" y="1133856"/>
            <a:ext cx="4956048" cy="2375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1" descr="/mnt/user-data/uploads/1790600710791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88720"/>
            <a:ext cx="4846320" cy="2265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05856" y="1133856"/>
            <a:ext cx="3035808" cy="1929384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2" descr="/mnt/user-data/uploads/1790600770535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188720"/>
            <a:ext cx="2926080" cy="181965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352044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9050">
            <a:solidFill>
              <a:srgbClr val="FBBF24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teaching timetable (Faculty)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show subject, teacher, room and time; theory = 50 min, lab = 1h 40m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this slot?" explains the constraints behind each placement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60720" y="3291840"/>
            <a:ext cx="2926080" cy="150876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9050">
            <a:solidFill>
              <a:srgbClr val="FBBF24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workshop request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only; rooms filtered and ranked by capacity fit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re-checks the room on approval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3: Free Rooms and AI Chat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84048"/>
            <a:ext cx="1280160" cy="320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" y="1179576"/>
            <a:ext cx="3950208" cy="1900885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1" descr="/mnt/user-data/uploads/1790600832229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3840480" cy="179115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00016" y="1179576"/>
            <a:ext cx="3950208" cy="1906889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2" descr="/mnt/user-data/uploads/1790600900731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234440"/>
            <a:ext cx="3840480" cy="1797161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324612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FBBF24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Room Finder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date, period and block; 92 rooms free for Period 1 on 28 Sep 2026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 rooms (classes + approved events) are removed, rest ranked by best fit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754880" y="324612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FBBF24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chat assistant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1: Gemini extracts intent as JSON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queries real MongoDB data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2: Gemini phrases the answer using only that data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84048"/>
            <a:ext cx="128016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3B1A7A"/>
          </a:solidFill>
          <a:ln w="19050">
            <a:solidFill>
              <a:srgbClr val="A78BFA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conflict-free timetable: 0 teacher, room and batch clashes</a:t>
            </a: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and classrooms matched, capacity respected, daily break kept</a:t>
            </a: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 with personalised views and preference locking</a:t>
            </a: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room finder and event approval that re-checks availability</a:t>
            </a: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chat assistant: Gemini never invents schedule facts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3B1A7A"/>
          </a:solidFill>
          <a:ln w="19050">
            <a:solidFill>
              <a:srgbClr val="FBBF24"/>
            </a:solidFill>
            <a:prstDash val="dash"/>
          </a:ln>
        </p:spPr>
        <p:txBody>
          <a:bodyPr wrap="square" lIns="50800" tIns="101600" rIns="101600" bIns="508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soft constraints with local-search repair</a:t>
            </a: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re-solve when a teacher or room changes</a:t>
            </a: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teachers per batch and elective groups</a:t>
            </a: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push notifications for approvals</a:t>
            </a: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calendar (iCal) export</a:t>
            </a:r>
            <a:endParaRPr lang="en-US" sz="16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benchmarks on larger datasets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3434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766560" y="4572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1116</Words>
  <Application>Microsoft Office PowerPoint</Application>
  <PresentationFormat>On-screen Show (16:9)</PresentationFormat>
  <Paragraphs>224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College Timetable &amp; Resource Scheduler</dc:title>
  <dc:subject>PptxGenJS Presentation</dc:subject>
  <dc:creator>PptxGenJS</dc:creator>
  <cp:lastModifiedBy>Admin</cp:lastModifiedBy>
  <cp:revision>3</cp:revision>
  <dcterms:created xsi:type="dcterms:W3CDTF">2026-09-28T13:11:11Z</dcterms:created>
  <dcterms:modified xsi:type="dcterms:W3CDTF">2026-09-28T13:31:02Z</dcterms:modified>
</cp:coreProperties>
</file>